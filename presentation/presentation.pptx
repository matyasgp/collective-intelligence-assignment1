
<file path=[Content_Types].xml><?xml version="1.0" encoding="utf-8"?>
<Types xmlns="http://schemas.openxmlformats.org/package/2006/content-types"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9" r:id="rId4"/>
    <p:sldId id="260" r:id="rId5"/>
    <p:sldId id="261" r:id="rId6"/>
    <p:sldId id="262" r:id="rId7"/>
    <p:sldId id="263" r:id="rId8"/>
    <p:sldId id="264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22" d="100"/>
          <a:sy n="122" d="100"/>
        </p:scale>
        <p:origin x="114" y="18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microsoft.com/office/2007/relationships/media" Target="../media/media1.mp4"/><Relationship Id="rId2" Type="http://schemas.openxmlformats.org/officeDocument/2006/relationships/video" Target="../media/media1.mp4"/><Relationship Id="rId3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18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22960" y="1323560"/>
            <a:ext cx="105156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lang="en-GB" sz="3200" b="1" dirty="0">
                <a:solidFill>
                  <a:srgbClr val="F2F2F2"/>
                </a:solidFill>
                <a:latin typeface="Segoe UI"/>
              </a:rPr>
              <a:t>Sociodynamics of </a:t>
            </a:r>
            <a:r>
              <a:rPr lang="en-GB" sz="3200" b="1" dirty="0" err="1">
                <a:solidFill>
                  <a:srgbClr val="F2F2F2"/>
                </a:solidFill>
                <a:latin typeface="Segoe UI"/>
              </a:rPr>
              <a:t>Emutopia</a:t>
            </a:r>
            <a:r>
              <a:rPr lang="en-GB" sz="3200" b="1" dirty="0">
                <a:solidFill>
                  <a:srgbClr val="F2F2F2"/>
                </a:solidFill>
                <a:latin typeface="Segoe UI"/>
              </a:rPr>
              <a:t> and Kiwiland relations</a:t>
            </a:r>
            <a:endParaRPr sz="3200" b="1" dirty="0">
              <a:solidFill>
                <a:srgbClr val="F2F2F2"/>
              </a:solidFill>
              <a:latin typeface="Segoe UI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822960" y="214884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 b="0">
                <a:solidFill>
                  <a:srgbClr val="A9AEB6"/>
                </a:solidFill>
                <a:latin typeface="Segoe UI"/>
              </a:rPr>
              <a:t>Decoy saturation: when do cheap decoys break an air defence?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200400"/>
            <a:ext cx="109728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700" b="1" dirty="0">
                <a:solidFill>
                  <a:srgbClr val="E8542F"/>
                </a:solidFill>
                <a:latin typeface="Segoe UI"/>
              </a:rPr>
              <a:t>Story: </a:t>
            </a:r>
            <a:r>
              <a:rPr sz="1700" b="0" dirty="0" err="1">
                <a:solidFill>
                  <a:srgbClr val="F2F2F2"/>
                </a:solidFill>
                <a:latin typeface="Segoe UI"/>
              </a:rPr>
              <a:t>Emutopia</a:t>
            </a:r>
            <a:r>
              <a:rPr sz="1700" b="0" dirty="0">
                <a:solidFill>
                  <a:srgbClr val="F2F2F2"/>
                </a:solidFill>
                <a:latin typeface="Segoe UI"/>
              </a:rPr>
              <a:t> keeps sending “airborne humanitarian food deliveries” to Kiwiland, which would rather not receive them</a:t>
            </a:r>
          </a:p>
          <a:p>
            <a:pPr>
              <a:spcAft>
                <a:spcPts val="800"/>
              </a:spcAft>
            </a:pPr>
            <a:r>
              <a:rPr sz="1700" b="1" dirty="0">
                <a:solidFill>
                  <a:srgbClr val="E8542F"/>
                </a:solidFill>
                <a:latin typeface="Segoe UI"/>
              </a:rPr>
              <a:t>Question: </a:t>
            </a:r>
            <a:r>
              <a:rPr sz="1700" b="0" dirty="0">
                <a:solidFill>
                  <a:srgbClr val="F2F2F2"/>
                </a:solidFill>
                <a:latin typeface="Segoe UI"/>
              </a:rPr>
              <a:t>how do the decoy share and decoy recognition decide if the </a:t>
            </a:r>
            <a:r>
              <a:rPr sz="1700" b="0" dirty="0" err="1">
                <a:solidFill>
                  <a:srgbClr val="F2F2F2"/>
                </a:solidFill>
                <a:latin typeface="Segoe UI"/>
              </a:rPr>
              <a:t>defence</a:t>
            </a:r>
            <a:r>
              <a:rPr sz="1700" b="0" dirty="0">
                <a:solidFill>
                  <a:srgbClr val="F2F2F2"/>
                </a:solidFill>
                <a:latin typeface="Segoe UI"/>
              </a:rPr>
              <a:t> holds?</a:t>
            </a:r>
          </a:p>
          <a:p>
            <a:pPr>
              <a:spcAft>
                <a:spcPts val="800"/>
              </a:spcAft>
            </a:pPr>
            <a:r>
              <a:rPr sz="1700" b="1" dirty="0">
                <a:solidFill>
                  <a:srgbClr val="E8542F"/>
                </a:solidFill>
                <a:latin typeface="Segoe UI"/>
              </a:rPr>
              <a:t>Hypothesis: </a:t>
            </a:r>
            <a:r>
              <a:rPr sz="1700" b="0" dirty="0">
                <a:solidFill>
                  <a:srgbClr val="F2F2F2"/>
                </a:solidFill>
                <a:latin typeface="Segoe UI"/>
              </a:rPr>
              <a:t>above some decoy share the magazines run dry and losses jump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603504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200" b="0">
                <a:solidFill>
                  <a:srgbClr val="A9AEB6"/>
                </a:solidFill>
                <a:latin typeface="Segoe UI"/>
              </a:rPr>
              <a:t>Matyas Patacsi (YA1O1L) · Collective Intelligence, Assignment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4846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i="1">
                <a:solidFill>
                  <a:srgbClr val="A9AEB6"/>
                </a:solidFill>
                <a:latin typeface="Segoe UI"/>
              </a:rPr>
              <a:t>Note: from here on we use military terms, as the situation is surprisingly close to a scenario of that type.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" y="1298448"/>
            <a:ext cx="73152" cy="635000"/>
          </a:xfrm>
          <a:prstGeom prst="rect">
            <a:avLst/>
          </a:prstGeom>
          <a:solidFill>
            <a:srgbClr val="E854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18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3200" b="1">
                <a:solidFill>
                  <a:srgbClr val="F2F2F2"/>
                </a:solidFill>
                <a:latin typeface="Segoe UI"/>
              </a:rPr>
              <a:t>Model</a:t>
            </a:r>
          </a:p>
        </p:txBody>
      </p:sp>
      <p:pic>
        <p:nvPicPr>
          <p:cNvPr id="8" name="Picture 7" descr="interface_annota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97280"/>
            <a:ext cx="8778240" cy="496092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235440" y="1051560"/>
            <a:ext cx="278892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sz="2000" b="1">
                <a:solidFill>
                  <a:srgbClr val="F2F2F2"/>
                </a:solidFill>
                <a:latin typeface="Segoe UI"/>
              </a:rPr>
              <a:t>Breeds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E8542F"/>
                </a:solidFill>
                <a:latin typeface="Segoe UI"/>
              </a:rPr>
              <a:t>Bases</a:t>
            </a:r>
            <a:r>
              <a:rPr sz="1300">
                <a:solidFill>
                  <a:srgbClr val="A9AEB6"/>
                </a:solidFill>
                <a:latin typeface="Segoe UI"/>
              </a:rPr>
              <a:t>  10 interceptors, slow reload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E8542F"/>
                </a:solidFill>
                <a:latin typeface="Segoe UI"/>
              </a:rPr>
              <a:t>Drones</a:t>
            </a:r>
            <a:r>
              <a:rPr sz="1300">
                <a:solidFill>
                  <a:srgbClr val="A9AEB6"/>
                </a:solidFill>
                <a:latin typeface="Segoe UI"/>
              </a:rPr>
              <a:t>  lethal (red) or decoy (yellow)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E8542F"/>
                </a:solidFill>
                <a:latin typeface="Segoe UI"/>
              </a:rPr>
              <a:t>Interceptors</a:t>
            </a:r>
            <a:r>
              <a:rPr sz="1300">
                <a:solidFill>
                  <a:srgbClr val="A9AEB6"/>
                </a:solidFill>
                <a:latin typeface="Segoe UI"/>
              </a:rPr>
              <a:t>  chase one drone, 85% kill</a:t>
            </a:r>
          </a:p>
          <a:p>
            <a:pPr>
              <a:spcBef>
                <a:spcPts val="1400"/>
              </a:spcBef>
              <a:spcAft>
                <a:spcPts val="600"/>
              </a:spcAft>
            </a:pPr>
            <a:r>
              <a:rPr sz="2000" b="1">
                <a:solidFill>
                  <a:srgbClr val="F2F2F2"/>
                </a:solidFill>
                <a:latin typeface="Segoe UI"/>
              </a:rPr>
              <a:t>Rules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E8542F"/>
                </a:solidFill>
                <a:latin typeface="Segoe UI"/>
              </a:rPr>
              <a:t>Decoy recognition</a:t>
            </a:r>
            <a:r>
              <a:rPr sz="1300">
                <a:solidFill>
                  <a:srgbClr val="A9AEB6"/>
                </a:solidFill>
                <a:latin typeface="Segoe UI"/>
              </a:rPr>
              <a:t>  aim at a lethal drone, or the nearest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E8542F"/>
                </a:solidFill>
                <a:latin typeface="Segoe UI"/>
              </a:rPr>
              <a:t>Saturation</a:t>
            </a:r>
            <a:r>
              <a:rPr sz="1300">
                <a:solidFill>
                  <a:srgbClr val="A9AEB6"/>
                </a:solidFill>
                <a:latin typeface="Segoe UI"/>
              </a:rPr>
              <a:t>  no ammo, no launch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E8542F"/>
                </a:solidFill>
                <a:latin typeface="Segoe UI"/>
              </a:rPr>
              <a:t>Rain</a:t>
            </a:r>
            <a:r>
              <a:rPr sz="1300">
                <a:solidFill>
                  <a:srgbClr val="A9AEB6"/>
                </a:solidFill>
                <a:latin typeface="Segoe UI"/>
              </a:rPr>
              <a:t>  halves the kill chance</a:t>
            </a:r>
          </a:p>
        </p:txBody>
      </p:sp>
      <p:sp>
        <p:nvSpPr>
          <p:cNvPr id="7" name="Rectangle 6"/>
          <p:cNvSpPr/>
          <p:nvPr/>
        </p:nvSpPr>
        <p:spPr>
          <a:xfrm>
            <a:off x="347472" y="429768"/>
            <a:ext cx="73152" cy="508000"/>
          </a:xfrm>
          <a:prstGeom prst="rect">
            <a:avLst/>
          </a:prstGeom>
          <a:solidFill>
            <a:srgbClr val="E854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18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09728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lang="en-GB" sz="3200" b="1" dirty="0">
                <a:solidFill>
                  <a:srgbClr val="F2F2F2"/>
                </a:solidFill>
                <a:latin typeface="Segoe UI"/>
              </a:rPr>
              <a:t>Simulation Snapshots</a:t>
            </a:r>
            <a:endParaRPr sz="3200" b="1" dirty="0">
              <a:solidFill>
                <a:srgbClr val="F2F2F2"/>
              </a:solidFill>
              <a:latin typeface="Segoe UI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822960" y="105156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 b="1">
                <a:solidFill>
                  <a:srgbClr val="F2F2F2"/>
                </a:solidFill>
                <a:latin typeface="Segoe UI"/>
              </a:rPr>
              <a:t>0% decoys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63640" y="105156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 b="1">
                <a:solidFill>
                  <a:srgbClr val="F2F2F2"/>
                </a:solidFill>
                <a:latin typeface="Segoe UI"/>
              </a:rPr>
              <a:t>36% decoys</a:t>
            </a:r>
          </a:p>
        </p:txBody>
      </p:sp>
      <p:pic>
        <p:nvPicPr>
          <p:cNvPr id="5" name="Picture 4" descr="screenshot_0_decoy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554480"/>
            <a:ext cx="5120640" cy="5120640"/>
          </a:xfrm>
          <a:prstGeom prst="rect">
            <a:avLst/>
          </a:prstGeom>
        </p:spPr>
      </p:pic>
      <p:pic>
        <p:nvPicPr>
          <p:cNvPr id="6" name="Picture 5" descr="screenshot_36_decoy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3640" y="1554480"/>
            <a:ext cx="5120640" cy="512064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347472" y="429768"/>
            <a:ext cx="73152" cy="508000"/>
          </a:xfrm>
          <a:prstGeom prst="rect">
            <a:avLst/>
          </a:prstGeom>
          <a:solidFill>
            <a:srgbClr val="E854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18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demo.mp4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2849727" y="182880"/>
            <a:ext cx="6492240" cy="649224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  <p:video>
              <p:cMediaNode vol="80000">
                <p:cTn id="3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18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3200" b="1" dirty="0">
                <a:solidFill>
                  <a:srgbClr val="F2F2F2"/>
                </a:solidFill>
                <a:latin typeface="Segoe UI"/>
              </a:rPr>
              <a:t>Experiment: decoy share × decoy recognition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 b="0" dirty="0" err="1">
                <a:solidFill>
                  <a:srgbClr val="A9AEB6"/>
                </a:solidFill>
                <a:latin typeface="Segoe UI"/>
              </a:rPr>
              <a:t>BehaviorSpace</a:t>
            </a:r>
            <a:r>
              <a:rPr sz="1800" b="0" dirty="0">
                <a:solidFill>
                  <a:srgbClr val="A9AEB6"/>
                </a:solidFill>
                <a:latin typeface="Segoe UI"/>
              </a:rPr>
              <a:t> · 561 settings × 100 runs · bases destroyed, mean ± 95% CI</a:t>
            </a:r>
          </a:p>
        </p:txBody>
      </p:sp>
      <p:pic>
        <p:nvPicPr>
          <p:cNvPr id="6" name="Picture 5" descr="fig_swee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828800"/>
            <a:ext cx="11430000" cy="414337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5989320"/>
            <a:ext cx="109728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 b="1" dirty="0">
                <a:solidFill>
                  <a:srgbClr val="E8542F"/>
                </a:solidFill>
                <a:latin typeface="Segoe UI"/>
              </a:rPr>
              <a:t>Tipping point: </a:t>
            </a:r>
            <a:r>
              <a:rPr sz="1800" b="0" dirty="0">
                <a:solidFill>
                  <a:srgbClr val="F2F2F2"/>
                </a:solidFill>
                <a:latin typeface="Segoe UI"/>
              </a:rPr>
              <a:t>22.6% decoys at 20% recognition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347472" y="429768"/>
            <a:ext cx="73152" cy="508000"/>
          </a:xfrm>
          <a:prstGeom prst="rect">
            <a:avLst/>
          </a:prstGeom>
          <a:solidFill>
            <a:srgbClr val="E854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18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09728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lang="en-GB" sz="3200" b="1" dirty="0">
                <a:solidFill>
                  <a:srgbClr val="F2F2F2"/>
                </a:solidFill>
                <a:latin typeface="Segoe UI"/>
              </a:rPr>
              <a:t>Experiment: decoy share × decoy recognition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09728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lang="en-GB" dirty="0" err="1">
                <a:solidFill>
                  <a:srgbClr val="A9AEB6"/>
                </a:solidFill>
                <a:latin typeface="Segoe UI"/>
              </a:rPr>
              <a:t>BehaviorSpace</a:t>
            </a:r>
            <a:r>
              <a:rPr lang="en-GB" dirty="0">
                <a:solidFill>
                  <a:srgbClr val="A9AEB6"/>
                </a:solidFill>
                <a:latin typeface="Segoe UI"/>
              </a:rPr>
              <a:t> · 671 settings × 100 runs · bases destroyed, mean ± 95% CI</a:t>
            </a:r>
          </a:p>
        </p:txBody>
      </p:sp>
      <p:pic>
        <p:nvPicPr>
          <p:cNvPr id="6" name="Picture 5" descr="fig_sweep_rati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828800"/>
            <a:ext cx="11430000" cy="414337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5989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 b="1">
                <a:solidFill>
                  <a:srgbClr val="E8542F"/>
                </a:solidFill>
                <a:latin typeface="Segoe UI"/>
              </a:rPr>
              <a:t>Tipping point: </a:t>
            </a:r>
            <a:r>
              <a:rPr sz="1800" b="0">
                <a:solidFill>
                  <a:srgbClr val="F2F2F2"/>
                </a:solidFill>
                <a:latin typeface="Segoe UI"/>
              </a:rPr>
              <a:t>about 1.8 decoys per armed drone at 20% recognition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347472" y="429768"/>
            <a:ext cx="73152" cy="508000"/>
          </a:xfrm>
          <a:prstGeom prst="rect">
            <a:avLst/>
          </a:prstGeom>
          <a:solidFill>
            <a:srgbClr val="E854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18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09728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lang="en-GB" sz="3200" b="1" dirty="0">
                <a:solidFill>
                  <a:srgbClr val="F2F2F2"/>
                </a:solidFill>
                <a:latin typeface="Segoe UI"/>
              </a:rPr>
              <a:t>Conclusions</a:t>
            </a:r>
            <a:endParaRPr sz="3200" b="1" dirty="0">
              <a:solidFill>
                <a:srgbClr val="F2F2F2"/>
              </a:solidFill>
              <a:latin typeface="Segoe UI"/>
            </a:endParaRPr>
          </a:p>
        </p:txBody>
      </p:sp>
      <p:pic>
        <p:nvPicPr>
          <p:cNvPr id="5" name="Picture 4" descr="fig_timeseri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97280"/>
            <a:ext cx="11247120" cy="2671191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31520" y="3931920"/>
            <a:ext cx="10789920" cy="142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 b="1" dirty="0">
                <a:solidFill>
                  <a:srgbClr val="E8542F"/>
                </a:solidFill>
                <a:latin typeface="Segoe UI"/>
              </a:rPr>
              <a:t>Takeaway: </a:t>
            </a:r>
            <a:r>
              <a:rPr sz="2000" b="0" dirty="0">
                <a:solidFill>
                  <a:srgbClr val="F2F2F2"/>
                </a:solidFill>
                <a:latin typeface="Segoe UI"/>
              </a:rPr>
              <a:t>the defense does not degrade slowly, it collapses once ~20% of the budget goes to decoys</a:t>
            </a:r>
            <a:r>
              <a:rPr lang="en-GB" sz="2000" b="0" dirty="0">
                <a:solidFill>
                  <a:srgbClr val="F2F2F2"/>
                </a:solidFill>
                <a:latin typeface="Segoe UI"/>
              </a:rPr>
              <a:t>; after a certain point, ther</a:t>
            </a:r>
            <a:r>
              <a:rPr lang="en-GB" sz="2000" dirty="0">
                <a:solidFill>
                  <a:srgbClr val="F2F2F2"/>
                </a:solidFill>
                <a:latin typeface="Segoe UI"/>
              </a:rPr>
              <a:t>e are not enough lethal drones for collapsing the defence</a:t>
            </a:r>
            <a:endParaRPr sz="2000" b="0" dirty="0">
              <a:solidFill>
                <a:srgbClr val="F2F2F2"/>
              </a:solidFill>
              <a:latin typeface="Segoe UI"/>
            </a:endParaRPr>
          </a:p>
          <a:p>
            <a:pPr>
              <a:spcAft>
                <a:spcPts val="800"/>
              </a:spcAft>
            </a:pPr>
            <a:r>
              <a:rPr sz="2000" b="1" dirty="0">
                <a:solidFill>
                  <a:srgbClr val="E8542F"/>
                </a:solidFill>
                <a:latin typeface="Segoe UI"/>
              </a:rPr>
              <a:t>Limitations: </a:t>
            </a:r>
            <a:r>
              <a:rPr sz="2000" b="0" dirty="0">
                <a:solidFill>
                  <a:srgbClr val="F2F2F2"/>
                </a:solidFill>
                <a:latin typeface="Segoe UI"/>
              </a:rPr>
              <a:t>straight-flying drones, simple fixed tactics on both sides, no adaptation or dynamic resource management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347472" y="429768"/>
            <a:ext cx="73152" cy="508000"/>
          </a:xfrm>
          <a:prstGeom prst="rect">
            <a:avLst/>
          </a:prstGeom>
          <a:solidFill>
            <a:srgbClr val="E854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18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377440"/>
            <a:ext cx="110642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400" b="1">
                <a:solidFill>
                  <a:srgbClr val="F2F2F2"/>
                </a:solidFill>
                <a:latin typeface="Segoe UI"/>
              </a:rPr>
              <a:t>Thank you for your attention!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3474720"/>
            <a:ext cx="110642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800" b="0">
                <a:solidFill>
                  <a:srgbClr val="A9AEB6"/>
                </a:solidFill>
                <a:latin typeface="Segoe UI"/>
              </a:rPr>
              <a:t>Questions?</a:t>
            </a:r>
          </a:p>
        </p:txBody>
      </p:sp>
      <p:sp>
        <p:nvSpPr>
          <p:cNvPr id="4" name="Rectangle 3"/>
          <p:cNvSpPr/>
          <p:nvPr/>
        </p:nvSpPr>
        <p:spPr>
          <a:xfrm>
            <a:off x="5184648" y="3310128"/>
            <a:ext cx="1828800" cy="54864"/>
          </a:xfrm>
          <a:prstGeom prst="rect">
            <a:avLst/>
          </a:prstGeom>
          <a:solidFill>
            <a:srgbClr val="E854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</TotalTime>
  <Words>289</Words>
  <Application>Microsoft Office PowerPoint</Application>
  <PresentationFormat>Widescreen</PresentationFormat>
  <Paragraphs>30</Paragraphs>
  <Slides>8</Slides>
  <Notes>0</Notes>
  <HiddenSlides>0</HiddenSlides>
  <MMClips>1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Segoe UI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Mátyás Gergo Patacsi</cp:lastModifiedBy>
  <cp:revision>4</cp:revision>
  <dcterms:created xsi:type="dcterms:W3CDTF">2013-01-27T09:14:16Z</dcterms:created>
  <dcterms:modified xsi:type="dcterms:W3CDTF">2026-10-13T17:40:26Z</dcterms:modified>
  <cp:category/>
</cp:coreProperties>
</file>